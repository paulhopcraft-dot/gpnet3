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97114" y="2008138"/>
            <a:ext cx="734962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4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WorkSafe Victoria Compliance Management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97114" y="2868513"/>
            <a:ext cx="73496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Overview</a:t>
            </a:r>
            <a:endParaRPr lang="en-US" sz="1800" dirty="0"/>
          </a:p>
        </p:txBody>
      </p:sp>
      <p:pic>
        <p:nvPicPr>
          <p:cNvPr id="4" name="Image 0" descr="C:\dev\gpnet3\presentations\preventli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9144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98525"/>
            <a:ext cx="8255198" cy="3690045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90426" y="1615976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7601" y="1615976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Compliance Requirements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601" y="2037457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WorkSafe Victoria compliance involves intricate regulations, medical certificate tracking, and strict deadlines that are difficult to manage manually.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0426" y="2799457"/>
            <a:ext cx="0" cy="9548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601" y="2799457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 of Non-Compliance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601" y="3220938"/>
            <a:ext cx="7481239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processes lead to missed deadlines, incomplete documentation, and potential penalties or legal issues.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0426" y="3982938"/>
            <a:ext cx="0" cy="688181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601" y="3982938"/>
            <a:ext cx="748123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Underserved Market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601" y="4404420"/>
            <a:ext cx="748123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employers need automated compliance solutions.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Preventli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44401" y="1260425"/>
            <a:ext cx="8255198" cy="3725168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157787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Compliance Management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1851" y="1974056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WIRC Act compliance tracking, medical certificates, and return-to-work monitoring.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242619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Freshdesk Integration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1851" y="2822377"/>
            <a:ext cx="7772704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Seamlessly aggregates worker injury cases from existing ticketing systems.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1851" y="3274516"/>
            <a:ext cx="777270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1851" y="3695998"/>
            <a:ext cx="7620298" cy="972145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case summaries</a:t>
            </a:r>
            <a:endParaRPr lang="en-US" sz="1300" dirty="0"/>
          </a:p>
          <a:p>
            <a:pPr algn="l" marL="114300" indent="-114300">
              <a:lnSpc>
                <a:spcPts val="169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audit trail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0113" y="1209675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4426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Tracking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426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of all certificates with automatic expiry alerts and status updates.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667250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91063" y="1209675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05375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Return-to-Work Monitoring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05375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7-stage RTW process with progress indicators and milestone tracking.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6301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30113" y="248468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426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42-Day Threshold Enforcement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426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alerts when certificates approach WorkSafe Victoria's 42-day limit.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7250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1063" y="248468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5375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5375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logged with timestamps, user info, and full change history.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301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30113" y="375969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426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Security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426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Organization-level data isolation with role-based access controls.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67250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1063" y="3759696"/>
            <a:ext cx="0" cy="1084511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5375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Dashboard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05375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At-a-glance view of all compliance statuses across your entire workforce.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&amp; AI Features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8B5C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96801" y="1400175"/>
            <a:ext cx="3763238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Case Summaries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6801" y="1707505"/>
            <a:ext cx="3763238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generates intelligent case summaries with work status classification and key insights.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7250" y="1209675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691063" y="1209675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05375" y="1400175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Worker Notifications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05375" y="1707505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Auto-email workers when certificates expire - no manual follow-up needed.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6301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30113" y="248468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426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Chase Workflows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426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 actions 3 days before certificate expiry to prevent compliance gaps.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7250" y="248468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691063" y="248468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5375" y="267518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05375" y="298251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medical certificates align with stated work capacity - catches inconsistencies.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6301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30113" y="375969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426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Compliance Alerts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4426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Escalating priority levels (Medium → High → Critical) ensure nothing is missed.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7250" y="3759696"/>
            <a:ext cx="4070449" cy="1084511"/>
          </a:xfrm>
          <a:prstGeom prst="roundRect">
            <a:avLst>
              <a:gd name="adj" fmla="val 93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91063" y="3759696"/>
            <a:ext cx="0" cy="1084511"/>
          </a:xfrm>
          <a:prstGeom prst="line">
            <a:avLst/>
          </a:prstGeom>
          <a:noFill/>
          <a:ln w="47625">
            <a:solidFill>
              <a:srgbClr val="8B5C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5375" y="3950196"/>
            <a:ext cx="3714661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Email Drafting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05375" y="4257526"/>
            <a:ext cx="3714661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professional emails for any case situation with one click.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127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Rules &amp; Automation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01" y="1012627"/>
            <a:ext cx="2675483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1036439"/>
            <a:ext cx="2675483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212652"/>
            <a:ext cx="2418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Certificate Automation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8701" y="1485602"/>
            <a:ext cx="2370683" cy="9455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Expiry tracking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real-time status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Chase workflows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- 3 days before expiry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Auto-email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worker reminders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cert aligns with capacity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34184" y="1012627"/>
            <a:ext cx="2675483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34184" y="1036439"/>
            <a:ext cx="2675483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6584" y="1212652"/>
            <a:ext cx="24180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RTW Plan Management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6584" y="1485602"/>
            <a:ext cx="2370683" cy="736104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Auto-scheduling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stale plan updates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- 7-stage process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validation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meaningful rehab plans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62067" y="1012627"/>
            <a:ext cx="2675632" cy="1570881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62067" y="1036439"/>
            <a:ext cx="2675632" cy="0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4467" y="1212652"/>
            <a:ext cx="2418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WorkSafe Compliance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4467" y="1485602"/>
            <a:ext cx="2370832" cy="5774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42-day threshold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current evidence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trails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all access logged</a:t>
            </a:r>
            <a:endParaRPr lang="en-US" sz="1000" dirty="0"/>
          </a:p>
          <a:p>
            <a:pPr algn="l" marL="88900" indent="-88900">
              <a:lnSpc>
                <a:spcPts val="1250"/>
              </a:lnSpc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</a:t>
            </a:r>
            <a:pPr algn="l" indent="0" marL="0">
              <a:lnSpc>
                <a:spcPts val="125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isolation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81075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Integration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06301" y="1209675"/>
            <a:ext cx="8331398" cy="3930997"/>
          </a:xfrm>
          <a:prstGeom prst="roundRect">
            <a:avLst>
              <a:gd name="adj" fmla="val 2585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73001" y="1476375"/>
            <a:ext cx="79539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Sales with 22,000 Qualified Leads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73001" y="1923306"/>
            <a:ext cx="795395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 manages outreach and converts leads to customers.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3001" y="2324695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701576" y="2324695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101" y="2451646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Smart Segmentation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7101" y="2781746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categorizes 22,000 leads by industry and compliance needs.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73001" y="3208288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01576" y="3208288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101" y="3335238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Automated Outreach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7101" y="3665339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email campaigns managed by Go Vertical.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3001" y="4091880"/>
            <a:ext cx="7797998" cy="782092"/>
          </a:xfrm>
          <a:prstGeom prst="roundRect">
            <a:avLst>
              <a:gd name="adj" fmla="val 9743"/>
            </a:avLst>
          </a:prstGeom>
          <a:solidFill>
            <a:srgbClr val="E8F0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01576" y="4091880"/>
            <a:ext cx="0" cy="782092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7101" y="4218831"/>
            <a:ext cx="763668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Pipeline Tracking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7101" y="4548932"/>
            <a:ext cx="763668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engagement and convert leads to customers.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22127"/>
          </a:xfrm>
          <a:prstGeom prst="rect">
            <a:avLst/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177701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 - 3 Tiers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01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6301" y="1041202"/>
            <a:ext cx="2675483" cy="0"/>
          </a:xfrm>
          <a:prstGeom prst="line">
            <a:avLst/>
          </a:prstGeom>
          <a:noFill/>
          <a:ln w="571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Primary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8701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active cases, high volumes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8701" y="1717328"/>
            <a:ext cx="2370683" cy="9642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Hire &amp; Recruitment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Aged Care Facilities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NDIS Providers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Training Orgs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Management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34184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234184" y="1041202"/>
            <a:ext cx="2675483" cy="0"/>
          </a:xfrm>
          <a:prstGeom prst="line">
            <a:avLst/>
          </a:prstGeom>
          <a:noFill/>
          <a:ln w="57150">
            <a:solidFill>
              <a:srgbClr val="2E5C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6584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Strong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6584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sectors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6584" y="1717328"/>
            <a:ext cx="2370683" cy="964257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Rehabilitation Providers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Allied Health Groups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Cleaning Companies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Firms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&amp; Logistics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62067" y="1012627"/>
            <a:ext cx="2675483" cy="2021681"/>
          </a:xfrm>
          <a:prstGeom prst="roundRect">
            <a:avLst>
              <a:gd name="adj" fmla="val 502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062067" y="1041202"/>
            <a:ext cx="2675483" cy="0"/>
          </a:xfrm>
          <a:prstGeom prst="line">
            <a:avLst/>
          </a:prstGeom>
          <a:noFill/>
          <a:ln w="5715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4467" y="1222177"/>
            <a:ext cx="24180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Expansion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4467" y="1482477"/>
            <a:ext cx="241809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customization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4467" y="1717328"/>
            <a:ext cx="2370683" cy="355253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Councils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Franchise Groups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14467" y="2174081"/>
            <a:ext cx="2370683" cy="707827"/>
          </a:xfrm>
          <a:prstGeom prst="roundRect">
            <a:avLst>
              <a:gd name="adj" fmla="val 10765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20250" y="2301032"/>
            <a:ext cx="2159118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22,000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320250" y="2621607"/>
            <a:ext cx="21591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Leads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GTM: "Land the Anchors"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Sales &amp; Industry Partnerships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322439"/>
          </a:xfrm>
          <a:prstGeom prst="roundRect">
            <a:avLst>
              <a:gd name="adj" fmla="val 305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Vertical Platform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22,000 leads by Tier 1 industries. Launch automated email campaigns with compliance-focused messaging.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Conferences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and speak at RCSA (recruitment), LASA (aged care), NDS (disability services). Build credibility.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44678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60-day pilot with full support. Convert to paid on demonstrated ROI.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3831134"/>
            <a:ext cx="0" cy="628352"/>
          </a:xfrm>
          <a:prstGeom prst="line">
            <a:avLst/>
          </a:prstGeom>
          <a:noFill/>
          <a:ln w="47625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383113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Outreach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096345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Navigator targeting Compliance Managers and HR Directors at target companies.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Clients Year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$30K+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882551"/>
          </a:xfrm>
          <a:prstGeom prst="roundRect">
            <a:avLst>
              <a:gd name="adj" fmla="val 1151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 Hire, Aged Care, NDIS, GTOs, Claims Management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2E5C8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GTM: "Scale with Inbound"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 &amp; Referrals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50400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&amp; Content 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"WorkSafe compliance checklist", "Medical certificate tracking guide" - drive organic traffic from compliance searches.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clients refer their service providers. Offer 1 month free credit for successful referrals.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Webinars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"WorkSafe Compliance Updates" - educational content that captures leads and builds authority.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4012704"/>
            <a:ext cx="0" cy="628352"/>
          </a:xfrm>
          <a:prstGeom prst="line">
            <a:avLst/>
          </a:prstGeom>
          <a:noFill/>
          <a:ln w="47625">
            <a:solidFill>
              <a:srgbClr val="2E5C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401270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Channel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277916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Accountants and bookkeepers who serve these industries - natural referral partners.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Leads/Month by EOY1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$6-12K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882551"/>
          </a:xfrm>
          <a:prstGeom prst="roundRect">
            <a:avLst>
              <a:gd name="adj" fmla="val 11512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Rehab Providers, Allied Health, Cleaning, Security, Transport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51347"/>
          </a:xfrm>
          <a:prstGeom prst="rect">
            <a:avLst/>
          </a:prstGeom>
          <a:solidFill>
            <a:srgbClr val="6366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450" y="228600"/>
            <a:ext cx="867928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GTM: "Enterprise Expansion"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17450" y="758726"/>
            <a:ext cx="8679281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spcBef>
                <a:spcPts val="500"/>
              </a:spcBef>
              <a:buNone/>
            </a:pPr>
            <a:r>
              <a:rPr lang="en-US" sz="16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&amp; Customization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6301" y="1479947"/>
            <a:ext cx="5600998" cy="3504009"/>
          </a:xfrm>
          <a:prstGeom prst="roundRect">
            <a:avLst>
              <a:gd name="adj" fmla="val 29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20613" y="1670447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6826" y="1670447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Government Procurement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6826" y="1935659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 on VendorPanel and Buying for Victoria. Monitor and respond to council RFPs for compliance solutions.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0613" y="2451199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826" y="2451199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Sales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6826" y="2716411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account manager for enterprise prospects. Longer 6-12 month relationship-building cycle.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613" y="3231952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6826" y="3231952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Customization Packages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6826" y="3497163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dashboards, API integrations, white-label options. Premium pricing for bespoke solutions.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0613" y="4012704"/>
            <a:ext cx="0" cy="628352"/>
          </a:xfrm>
          <a:prstGeom prst="line">
            <a:avLst/>
          </a:prstGeom>
          <a:noFill/>
          <a:ln w="47625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6826" y="4012704"/>
            <a:ext cx="5120372" cy="21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9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6826" y="4277916"/>
            <a:ext cx="5120372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Tier 1 case studies to win enterprise trust. Reference customers speak to prospects.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7798" y="1479947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27847" y="1632347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327847" y="2079278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Deals in Year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97798" y="2523530"/>
            <a:ext cx="2539901" cy="916632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27847" y="2675930"/>
            <a:ext cx="2279803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$50K+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27847" y="3122861"/>
            <a:ext cx="2279803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spcBef>
                <a:spcPts val="400"/>
              </a:spcBef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ACV per Client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97798" y="3567113"/>
            <a:ext cx="2539901" cy="722561"/>
          </a:xfrm>
          <a:prstGeom prst="roundRect">
            <a:avLst>
              <a:gd name="adj" fmla="val 14061"/>
            </a:avLst>
          </a:prstGeom>
          <a:solidFill>
            <a:srgbClr val="1C3D5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350198" y="3719512"/>
            <a:ext cx="227980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0"/>
              </a:lnSpc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Segments: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0198" y="3977283"/>
            <a:ext cx="227980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8F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Councils, Franchise Groups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406301"/>
            <a:ext cx="8498026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01" y="923776"/>
            <a:ext cx="849802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RTW Plan Check-ins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01" y="1352401"/>
            <a:ext cx="4070449" cy="1504206"/>
          </a:xfrm>
          <a:prstGeom prst="roundRect">
            <a:avLst>
              <a:gd name="adj" fmla="val 675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1504801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Worker Engagement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01" y="1752451"/>
            <a:ext cx="3765649" cy="91365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calls to workers on RTW plans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AI-powered conversation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exercise compliance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Identifies barriers to recovery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Escalates concerns automatically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6301" y="2983557"/>
            <a:ext cx="4070449" cy="1313855"/>
          </a:xfrm>
          <a:prstGeom prst="roundRect">
            <a:avLst>
              <a:gd name="adj" fmla="val 773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3135957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383607"/>
            <a:ext cx="3765649" cy="7233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 compliance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Pain/discomfort levels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capacity</a:t>
            </a:r>
            <a:endParaRPr lang="en-US" sz="1000" dirty="0"/>
          </a:p>
          <a:p>
            <a:pPr algn="l" marL="88900" indent="-88900">
              <a:lnSpc>
                <a:spcPts val="1200"/>
              </a:lnSpc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wellbeing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7250" y="1352401"/>
            <a:ext cx="4070449" cy="1440359"/>
          </a:xfrm>
          <a:prstGeom prst="roundRect">
            <a:avLst>
              <a:gd name="adj" fmla="val 7054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19650" y="1504801"/>
            <a:ext cx="3840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3D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Approach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19650" y="1777752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AI: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Primary - weekly calls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19650" y="1993404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Quick updates, younger workers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19650" y="2209056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Detailed forms, uploads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19650" y="2424708"/>
            <a:ext cx="3840962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Escalation:</a:t>
            </a:r>
            <a:pPr algn="l"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Case manager fallback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7250" y="2919710"/>
            <a:ext cx="4070449" cy="558701"/>
          </a:xfrm>
          <a:prstGeom prst="roundRect">
            <a:avLst>
              <a:gd name="adj" fmla="val 18185"/>
            </a:avLst>
          </a:prstGeom>
          <a:solidFill>
            <a:srgbClr val="52B7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56035" y="304666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thousands of workers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6035" y="319906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added staff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3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2410" y="1341537"/>
            <a:ext cx="4019181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562410" y="2119313"/>
            <a:ext cx="4019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Schedule a platform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562410" y="2455813"/>
            <a:ext cx="4019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Discuss partnership 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2410" y="2792313"/>
            <a:ext cx="4019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Identify shared target clients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562410" y="3128814"/>
            <a:ext cx="4019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pPr algn="ctr"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Pilot with mutual contacts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2410" y="3592264"/>
            <a:ext cx="401918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transform WorkSafe compliance together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Preventli Partnership Presentation</dc:title>
  <dc:subject>WorkSafe Victoria Compliance Platform - Partnership Overview</dc:subject>
  <dc:creator>Preventli</dc:creator>
  <cp:lastModifiedBy>Preventli</cp:lastModifiedBy>
  <cp:revision>1</cp:revision>
  <dcterms:created xsi:type="dcterms:W3CDTF">2026-01-22T02:53:13Z</dcterms:created>
  <dcterms:modified xsi:type="dcterms:W3CDTF">2026-01-22T02:53:13Z</dcterms:modified>
</cp:coreProperties>
</file>